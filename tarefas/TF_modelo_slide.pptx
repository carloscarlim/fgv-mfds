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2433"/>
                </a:solidFill>
              </a:defRPr>
            </a:pPr>
            <a:r>
              <a:t>[Título: o achado principal, em uma frase, com um número]</a:t>
            </a:r>
          </a:p>
          <a:p>
            <a:pPr>
              <a:defRPr sz="1300">
                <a:solidFill>
                  <a:srgbClr val="5D6577"/>
                </a:solidFill>
              </a:defRPr>
            </a:pPr>
            <a:r>
              <a:t>Para: [diretoria do seu cartão]   ·   Pergunta: [sua pergunta de negócio]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2000" y="1188000"/>
            <a:ext cx="5472000" cy="2376000"/>
          </a:xfrm>
          <a:prstGeom prst="roundRect">
            <a:avLst>
              <a:gd name="adj" fmla="val 4000"/>
            </a:avLst>
          </a:prstGeom>
          <a:solidFill>
            <a:srgbClr val="EF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60000"/>
            <a:ext cx="5256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5F8B"/>
                </a:solidFill>
              </a:defRPr>
            </a:pPr>
            <a:r>
              <a:t>3 insights (com números da sua base)</a:t>
            </a:r>
          </a:p>
          <a:p>
            <a:pPr>
              <a:spcBef>
                <a:spcPts val="300"/>
              </a:spcBef>
              <a:defRPr sz="1100">
                <a:solidFill>
                  <a:srgbClr val="5D6577"/>
                </a:solidFill>
              </a:defRPr>
            </a:pPr>
            <a:r>
              <a:t>1. [insight, número, comparação]</a:t>
            </a:r>
          </a:p>
          <a:p>
            <a:pPr>
              <a:spcBef>
                <a:spcPts val="300"/>
              </a:spcBef>
              <a:defRPr sz="1100">
                <a:solidFill>
                  <a:srgbClr val="5D6577"/>
                </a:solidFill>
              </a:defRPr>
            </a:pPr>
            <a:r>
              <a:t>2. [insight, número, comparação]</a:t>
            </a:r>
          </a:p>
          <a:p>
            <a:pPr>
              <a:spcBef>
                <a:spcPts val="300"/>
              </a:spcBef>
              <a:defRPr sz="1100">
                <a:solidFill>
                  <a:srgbClr val="5D6577"/>
                </a:solidFill>
              </a:defRPr>
            </a:pPr>
            <a:r>
              <a:t>3. [métrica do seu cenário (F12) e o que ela indica]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3671999"/>
            <a:ext cx="5472000" cy="2484000"/>
          </a:xfrm>
          <a:prstGeom prst="roundRect">
            <a:avLst>
              <a:gd name="adj" fmla="val 4000"/>
            </a:avLst>
          </a:prstGeom>
          <a:solidFill>
            <a:srgbClr val="EF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3743999"/>
            <a:ext cx="5256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5F8B"/>
                </a:solidFill>
              </a:defRPr>
            </a:pPr>
            <a:r>
              <a:t>3 ações recomendadas (cada uma com uma condição verificável)</a:t>
            </a:r>
          </a:p>
          <a:p>
            <a:pPr>
              <a:spcBef>
                <a:spcPts val="300"/>
              </a:spcBef>
              <a:defRPr sz="1100">
                <a:solidFill>
                  <a:srgbClr val="5D6577"/>
                </a:solidFill>
              </a:defRPr>
            </a:pPr>
            <a:r>
              <a:t>1. [ação] – [meta, prazo ou indicador]</a:t>
            </a:r>
          </a:p>
          <a:p>
            <a:pPr>
              <a:spcBef>
                <a:spcPts val="300"/>
              </a:spcBef>
              <a:defRPr sz="1100">
                <a:solidFill>
                  <a:srgbClr val="5D6577"/>
                </a:solidFill>
              </a:defRPr>
            </a:pPr>
            <a:r>
              <a:t>2. [ação] – [meta, prazo ou indicador]</a:t>
            </a:r>
          </a:p>
          <a:p>
            <a:pPr>
              <a:spcBef>
                <a:spcPts val="300"/>
              </a:spcBef>
              <a:defRPr sz="1100">
                <a:solidFill>
                  <a:srgbClr val="5D6577"/>
                </a:solidFill>
              </a:defRPr>
            </a:pPr>
            <a:r>
              <a:t>3. [ação] – [meta, prazo ou indicador]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0000" y="1188000"/>
            <a:ext cx="5652000" cy="3744000"/>
          </a:xfrm>
          <a:prstGeom prst="roundRect">
            <a:avLst>
              <a:gd name="adj" fmla="val 4000"/>
            </a:avLst>
          </a:prstGeom>
          <a:solidFill>
            <a:srgbClr val="EF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28000" y="1260000"/>
            <a:ext cx="5436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5F8B"/>
                </a:solidFill>
              </a:defRPr>
            </a:pPr>
            <a:r>
              <a:t>Gráfico</a:t>
            </a:r>
          </a:p>
          <a:p>
            <a:pPr>
              <a:spcBef>
                <a:spcPts val="300"/>
              </a:spcBef>
              <a:defRPr sz="1100">
                <a:solidFill>
                  <a:srgbClr val="5D6577"/>
                </a:solidFill>
              </a:defRPr>
            </a:pPr>
            <a:r>
              <a:t>[Cole aqui 1 gráfico feito por você no notebook.]</a:t>
            </a:r>
          </a:p>
          <a:p>
            <a:pPr>
              <a:spcBef>
                <a:spcPts val="300"/>
              </a:spcBef>
              <a:defRPr sz="1100">
                <a:solidFill>
                  <a:srgbClr val="5D6577"/>
                </a:solidFill>
              </a:defRPr>
            </a:pPr>
            <a:r>
              <a:t>[O título do gráfico deve ser a conclusão, não a descrição dos eixos.]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000" y="5040000"/>
            <a:ext cx="5652000" cy="1116000"/>
          </a:xfrm>
          <a:prstGeom prst="roundRect">
            <a:avLst>
              <a:gd name="adj" fmla="val 4000"/>
            </a:avLst>
          </a:prstGeom>
          <a:solidFill>
            <a:srgbClr val="EF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8000" y="5112000"/>
            <a:ext cx="5436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5F8B"/>
                </a:solidFill>
              </a:defRPr>
            </a:pPr>
            <a:r>
              <a:t>Limitação e incerteza</a:t>
            </a:r>
          </a:p>
          <a:p>
            <a:pPr>
              <a:spcBef>
                <a:spcPts val="300"/>
              </a:spcBef>
              <a:defRPr sz="1100">
                <a:solidFill>
                  <a:srgbClr val="5D6577"/>
                </a:solidFill>
              </a:defRPr>
            </a:pPr>
            <a:r>
              <a:t>[1 limitação dos dados ou da análise e a incerteza dos números (ex.: intervalo de confiança)]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443999"/>
            <a:ext cx="113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577"/>
                </a:solidFill>
              </a:defRPr>
            </a:pPr>
            <a:r>
              <a:t>Métodos e Ferramentas de Data Science · FGV MBA · Trabalho final · [seu usuário do ECLASS]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slide executivo</dc:title>
  <dc:subject/>
  <dc:creator>Carlos Carlim</dc:creator>
  <cp:keywords/>
  <dc:description/>
  <cp:lastModifiedBy>Carlos Carlim</cp:lastModifiedBy>
  <cp:revision>1</cp:revision>
  <dcterms:created xsi:type="dcterms:W3CDTF">2026-10-09T00:00:00Z</dcterms:created>
  <dcterms:modified xsi:type="dcterms:W3CDTF">2026-10-09T00:00:00Z</dcterms:modified>
  <cp:category/>
</cp:coreProperties>
</file>